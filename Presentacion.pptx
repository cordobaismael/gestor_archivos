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" panose="00000500000000000000" pitchFamily="2" charset="0"/>
      <p:regular r:id="rId7"/>
    </p:embeddedFont>
    <p:embeddedFont>
      <p:font typeface="Montserrat Medium Italics" panose="020B0604020202020204" charset="0"/>
      <p:regular r:id="rId8"/>
    </p:embeddedFont>
    <p:embeddedFont>
      <p:font typeface="Montserrat Ultra-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2" autoAdjust="0"/>
    <p:restoredTop sz="94622" autoAdjust="0"/>
  </p:normalViewPr>
  <p:slideViewPr>
    <p:cSldViewPr>
      <p:cViewPr>
        <p:scale>
          <a:sx n="66" d="100"/>
          <a:sy n="66" d="100"/>
        </p:scale>
        <p:origin x="6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1430000" y="6040133"/>
            <a:ext cx="5932501" cy="3713354"/>
          </a:xfrm>
          <a:custGeom>
            <a:avLst/>
            <a:gdLst/>
            <a:ahLst/>
            <a:cxnLst/>
            <a:rect l="l" t="t" r="r" b="b"/>
            <a:pathLst>
              <a:path w="2574992" h="2574992">
                <a:moveTo>
                  <a:pt x="0" y="0"/>
                </a:moveTo>
                <a:lnTo>
                  <a:pt x="2574992" y="0"/>
                </a:lnTo>
                <a:lnTo>
                  <a:pt x="2574992" y="2574993"/>
                </a:lnTo>
                <a:lnTo>
                  <a:pt x="0" y="2574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  <a:effectLst>
            <a:softEdge rad="177800"/>
          </a:effectLst>
        </p:spPr>
        <p:txBody>
          <a:bodyPr/>
          <a:lstStyle/>
          <a:p>
            <a:endParaRPr lang="es-AR"/>
          </a:p>
        </p:txBody>
      </p:sp>
      <p:sp>
        <p:nvSpPr>
          <p:cNvPr id="2" name="TextBox 2"/>
          <p:cNvSpPr txBox="1"/>
          <p:nvPr/>
        </p:nvSpPr>
        <p:spPr>
          <a:xfrm>
            <a:off x="1624247" y="4149096"/>
            <a:ext cx="13758809" cy="217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699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Digitalización y Organización Inteligente de Repartos</a:t>
            </a:r>
          </a:p>
          <a:p>
            <a:pPr algn="l">
              <a:lnSpc>
                <a:spcPts val="5699"/>
              </a:lnSpc>
            </a:pPr>
            <a:endParaRPr lang="en-US" sz="5699" b="1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2451" y="1866900"/>
            <a:ext cx="2538040" cy="17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4"/>
              </a:lnSpc>
            </a:pPr>
            <a:r>
              <a:rPr lang="en-US" sz="138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Sergio Ismael Córdoba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5925" y="5606796"/>
            <a:ext cx="13758809" cy="43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2134" b="1" i="1" spc="529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DE LA HOJA FÍSICA AL ARCHIVO DIGITAL INDEXADO EN SEGUNDOS.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1624247" y="4007164"/>
            <a:ext cx="1555561" cy="0"/>
          </a:xfrm>
          <a:prstGeom prst="line">
            <a:avLst/>
          </a:prstGeom>
          <a:ln w="857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Box 8"/>
          <p:cNvSpPr txBox="1"/>
          <p:nvPr/>
        </p:nvSpPr>
        <p:spPr>
          <a:xfrm>
            <a:off x="4587716" y="8254014"/>
            <a:ext cx="9744167" cy="117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sz="30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Reducir a cero el tiempo de búsqueda de documentos y automatizar el control de repartos de la empresa.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4247" y="8263539"/>
            <a:ext cx="2612148" cy="47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sz="3570" b="1" u="sng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</a:t>
            </a:r>
            <a:r>
              <a:rPr lang="en-US" sz="3570" b="1" u="sng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33CB3AF-F3B6-1859-0FCE-3D81FAD3B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23874"/>
            <a:ext cx="2885283" cy="1923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6751" y="376370"/>
            <a:ext cx="12485669" cy="652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4"/>
              </a:lnSpc>
              <a:spcBef>
                <a:spcPct val="0"/>
              </a:spcBef>
            </a:pPr>
            <a:r>
              <a:rPr lang="en-US" sz="4914" b="1" u="sng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El Desafío Actual (nuestro problema)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0823" y="1737039"/>
            <a:ext cx="4443561" cy="38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Búsqueda Ineficiente: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17571" y="1737039"/>
            <a:ext cx="11868476" cy="113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Encontrar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hoja de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reparto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hace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meses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implica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revisar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cajas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archivos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digitales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mal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organizados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perdiendo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minutos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 horas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valiosas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10823" y="4484689"/>
            <a:ext cx="16975224" cy="1180512"/>
            <a:chOff x="0" y="57150"/>
            <a:chExt cx="22633632" cy="1574015"/>
          </a:xfrm>
        </p:grpSpPr>
        <p:sp>
          <p:nvSpPr>
            <p:cNvPr id="6" name="TextBox 6"/>
            <p:cNvSpPr txBox="1"/>
            <p:nvPr/>
          </p:nvSpPr>
          <p:spPr>
            <a:xfrm>
              <a:off x="0" y="57150"/>
              <a:ext cx="6505773" cy="539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  <a:spcBef>
                  <a:spcPct val="0"/>
                </a:spcBef>
              </a:pPr>
              <a:r>
                <a:rPr lang="en-US" sz="2978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Errores de Clasificación: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08997" y="92283"/>
              <a:ext cx="15824635" cy="1538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78"/>
                </a:lnSpc>
                <a:spcBef>
                  <a:spcPct val="0"/>
                </a:spcBef>
              </a:pP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Carpetas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guardadas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con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nombres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incorrectos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fechas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cruzadas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archivos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perdidos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error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humano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fechas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cruzadas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y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errores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tipograficos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0823" y="6858405"/>
            <a:ext cx="16975224" cy="818605"/>
            <a:chOff x="0" y="0"/>
            <a:chExt cx="22633632" cy="1091473"/>
          </a:xfrm>
        </p:grpSpPr>
        <p:sp>
          <p:nvSpPr>
            <p:cNvPr id="9" name="TextBox 9"/>
            <p:cNvSpPr txBox="1"/>
            <p:nvPr/>
          </p:nvSpPr>
          <p:spPr>
            <a:xfrm>
              <a:off x="0" y="57150"/>
              <a:ext cx="5771555" cy="539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8"/>
                </a:lnSpc>
                <a:spcBef>
                  <a:spcPct val="0"/>
                </a:spcBef>
              </a:pPr>
              <a:r>
                <a:rPr lang="en-US" sz="2978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Falta de Trazabilidad: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8997" y="57150"/>
              <a:ext cx="15824634" cy="1034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78"/>
                </a:lnSpc>
                <a:spcBef>
                  <a:spcPct val="0"/>
                </a:spcBef>
              </a:pP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Imposibilidad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saber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rápidamente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qué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repartos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fueron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archivados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con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éxito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y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cuáles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tienen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978" dirty="0" err="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inconsistencias</a:t>
              </a:r>
              <a:r>
                <a:rPr lang="en-US" sz="2978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00989" y="376370"/>
            <a:ext cx="12357193" cy="127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4"/>
              </a:lnSpc>
              <a:spcBef>
                <a:spcPct val="0"/>
              </a:spcBef>
            </a:pPr>
            <a:r>
              <a:rPr lang="en-US" sz="4914" b="1" u="sng" dirty="0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 </a:t>
            </a:r>
            <a:r>
              <a:rPr lang="en-US" sz="4914" b="1" u="sng" dirty="0" err="1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Solución</a:t>
            </a:r>
            <a:r>
              <a:rPr lang="en-US" sz="4914" b="1" u="sng" dirty="0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es un Gestor de </a:t>
            </a:r>
            <a:r>
              <a:rPr lang="en-US" sz="4914" b="1" u="sng" dirty="0" err="1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Repartos</a:t>
            </a:r>
            <a:endParaRPr lang="en-US" sz="4914" b="1" u="sng" dirty="0">
              <a:solidFill>
                <a:srgbClr val="DECFA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algn="ctr">
              <a:lnSpc>
                <a:spcPts val="4914"/>
              </a:lnSpc>
              <a:spcBef>
                <a:spcPct val="0"/>
              </a:spcBef>
            </a:pPr>
            <a:endParaRPr lang="en-US" sz="4914" b="1" u="sng" dirty="0">
              <a:solidFill>
                <a:srgbClr val="DECFA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10823" y="1737039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Lectura Inteligente (OCR):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17571" y="1737039"/>
            <a:ext cx="11868476" cy="150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Lee automáticamente los PDF escaneados, identificando la empresa, fecha, sucursal y número de reparto de forma instantánea. (Una tecnologia con la que ya contamos y no le estamos sacando el mayor provecho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0823" y="3683671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Clasificación en Cascada: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17571" y="3683671"/>
            <a:ext cx="11868476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Mueve y estructura las carpetas en el servidor de forma jerárquica y limpia (Año &gt; Empresa &gt; Sucursal &gt; Mes &gt; Día).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823" y="5288088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Interfaz Visual Centralizada: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17571" y="5288088"/>
            <a:ext cx="11868476" cy="113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panel web premium para supervisar los documentos organizados, buscar repartos al instante y resolver excepciones.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0823" y="7635456"/>
            <a:ext cx="4443561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Asociación</a:t>
            </a:r>
            <a:r>
              <a:rPr lang="en-US" sz="2978" b="1" dirty="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de Cajas </a:t>
            </a:r>
            <a:r>
              <a:rPr lang="en-US" sz="2978" b="1" dirty="0" err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Físicas</a:t>
            </a:r>
            <a:endParaRPr lang="en-US" sz="2978" b="1" dirty="0">
              <a:solidFill>
                <a:srgbClr val="00000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17571" y="7635456"/>
            <a:ext cx="11868476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Cada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reparto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digitalizado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 asocial a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caja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física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numerada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 base de </a:t>
            </a:r>
            <a:r>
              <a:rPr lang="en-US" sz="297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n-US" sz="297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1578" y="309945"/>
            <a:ext cx="3625024" cy="715816"/>
            <a:chOff x="0" y="0"/>
            <a:chExt cx="954739" cy="1885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4739" cy="188528"/>
            </a:xfrm>
            <a:custGeom>
              <a:avLst/>
              <a:gdLst/>
              <a:ahLst/>
              <a:cxnLst/>
              <a:rect l="l" t="t" r="r" b="b"/>
              <a:pathLst>
                <a:path w="954739" h="188528">
                  <a:moveTo>
                    <a:pt x="0" y="0"/>
                  </a:moveTo>
                  <a:lnTo>
                    <a:pt x="954739" y="0"/>
                  </a:lnTo>
                  <a:lnTo>
                    <a:pt x="954739" y="188528"/>
                  </a:lnTo>
                  <a:lnTo>
                    <a:pt x="0" y="188528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954739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ESCANEAR PDF’S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41578" y="3075076"/>
            <a:ext cx="3625024" cy="715816"/>
            <a:chOff x="0" y="0"/>
            <a:chExt cx="954739" cy="1885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4739" cy="188528"/>
            </a:xfrm>
            <a:custGeom>
              <a:avLst/>
              <a:gdLst/>
              <a:ahLst/>
              <a:cxnLst/>
              <a:rect l="l" t="t" r="r" b="b"/>
              <a:pathLst>
                <a:path w="954739" h="188528">
                  <a:moveTo>
                    <a:pt x="0" y="0"/>
                  </a:moveTo>
                  <a:lnTo>
                    <a:pt x="954739" y="0"/>
                  </a:lnTo>
                  <a:lnTo>
                    <a:pt x="954739" y="188528"/>
                  </a:lnTo>
                  <a:lnTo>
                    <a:pt x="0" y="188528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954739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PROCESAMIENTO INTELIGENTE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11040" y="5840208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¿FUE IDENTIFICADO CON EXITO?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1517" y="978165"/>
            <a:ext cx="813918" cy="715816"/>
            <a:chOff x="0" y="0"/>
            <a:chExt cx="214365" cy="1885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4365" cy="188528"/>
            </a:xfrm>
            <a:custGeom>
              <a:avLst/>
              <a:gdLst/>
              <a:ahLst/>
              <a:cxnLst/>
              <a:rect l="l" t="t" r="r" b="b"/>
              <a:pathLst>
                <a:path w="214365" h="188528">
                  <a:moveTo>
                    <a:pt x="0" y="0"/>
                  </a:moveTo>
                  <a:lnTo>
                    <a:pt x="214365" y="0"/>
                  </a:lnTo>
                  <a:lnTo>
                    <a:pt x="214365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14365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37041" y="978165"/>
            <a:ext cx="813918" cy="715816"/>
            <a:chOff x="0" y="0"/>
            <a:chExt cx="214365" cy="1885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4365" cy="188528"/>
            </a:xfrm>
            <a:custGeom>
              <a:avLst/>
              <a:gdLst/>
              <a:ahLst/>
              <a:cxnLst/>
              <a:rect l="l" t="t" r="r" b="b"/>
              <a:pathLst>
                <a:path w="214365" h="188528">
                  <a:moveTo>
                    <a:pt x="0" y="0"/>
                  </a:moveTo>
                  <a:lnTo>
                    <a:pt x="214365" y="0"/>
                  </a:lnTo>
                  <a:lnTo>
                    <a:pt x="214365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14365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695964" y="2662958"/>
            <a:ext cx="3625024" cy="715816"/>
            <a:chOff x="0" y="0"/>
            <a:chExt cx="954739" cy="1885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4739" cy="188528"/>
            </a:xfrm>
            <a:custGeom>
              <a:avLst/>
              <a:gdLst/>
              <a:ahLst/>
              <a:cxnLst/>
              <a:rect l="l" t="t" r="r" b="b"/>
              <a:pathLst>
                <a:path w="954739" h="188528">
                  <a:moveTo>
                    <a:pt x="0" y="0"/>
                  </a:moveTo>
                  <a:lnTo>
                    <a:pt x="954739" y="0"/>
                  </a:lnTo>
                  <a:lnTo>
                    <a:pt x="954739" y="188528"/>
                  </a:lnTo>
                  <a:lnTo>
                    <a:pt x="0" y="188528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954739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PANEL DE REVISION MANUAL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76493" y="5650723"/>
            <a:ext cx="3625024" cy="715816"/>
            <a:chOff x="0" y="0"/>
            <a:chExt cx="954739" cy="1885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4739" cy="188528"/>
            </a:xfrm>
            <a:custGeom>
              <a:avLst/>
              <a:gdLst/>
              <a:ahLst/>
              <a:cxnLst/>
              <a:rect l="l" t="t" r="r" b="b"/>
              <a:pathLst>
                <a:path w="954739" h="188528">
                  <a:moveTo>
                    <a:pt x="0" y="0"/>
                  </a:moveTo>
                  <a:lnTo>
                    <a:pt x="954739" y="0"/>
                  </a:lnTo>
                  <a:lnTo>
                    <a:pt x="954739" y="188528"/>
                  </a:lnTo>
                  <a:lnTo>
                    <a:pt x="0" y="188528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954739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ORGANIZACION AUTOMATICA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31229" y="8339654"/>
            <a:ext cx="5715551" cy="715816"/>
            <a:chOff x="0" y="0"/>
            <a:chExt cx="1505330" cy="1885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330" cy="188528"/>
            </a:xfrm>
            <a:custGeom>
              <a:avLst/>
              <a:gdLst/>
              <a:ahLst/>
              <a:cxnLst/>
              <a:rect l="l" t="t" r="r" b="b"/>
              <a:pathLst>
                <a:path w="1505330" h="188528">
                  <a:moveTo>
                    <a:pt x="0" y="0"/>
                  </a:moveTo>
                  <a:lnTo>
                    <a:pt x="1505330" y="0"/>
                  </a:lnTo>
                  <a:lnTo>
                    <a:pt x="1505330" y="188528"/>
                  </a:lnTo>
                  <a:lnTo>
                    <a:pt x="0" y="188528"/>
                  </a:lnTo>
                  <a:close/>
                </a:path>
              </a:pathLst>
            </a:custGeom>
            <a:solidFill>
              <a:srgbClr val="DECFA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505330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b="1">
                  <a:solidFill>
                    <a:srgbClr val="000000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REPARTO CARGADO A LA BASE DE DATOS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992817" y="1692510"/>
            <a:ext cx="4122548" cy="715816"/>
            <a:chOff x="0" y="0"/>
            <a:chExt cx="1085774" cy="1885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85774" cy="188528"/>
            </a:xfrm>
            <a:custGeom>
              <a:avLst/>
              <a:gdLst/>
              <a:ahLst/>
              <a:cxnLst/>
              <a:rect l="l" t="t" r="r" b="b"/>
              <a:pathLst>
                <a:path w="1085774" h="188528">
                  <a:moveTo>
                    <a:pt x="0" y="0"/>
                  </a:moveTo>
                  <a:lnTo>
                    <a:pt x="1085774" y="0"/>
                  </a:lnTo>
                  <a:lnTo>
                    <a:pt x="1085774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085774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COLOCA EN CARPETA DE ENTRADA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25324" y="4457642"/>
            <a:ext cx="2657532" cy="715816"/>
            <a:chOff x="0" y="0"/>
            <a:chExt cx="699926" cy="1885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9926" cy="188528"/>
            </a:xfrm>
            <a:custGeom>
              <a:avLst/>
              <a:gdLst/>
              <a:ahLst/>
              <a:cxnLst/>
              <a:rect l="l" t="t" r="r" b="b"/>
              <a:pathLst>
                <a:path w="699926" h="188528">
                  <a:moveTo>
                    <a:pt x="0" y="0"/>
                  </a:moveTo>
                  <a:lnTo>
                    <a:pt x="699926" y="0"/>
                  </a:lnTo>
                  <a:lnTo>
                    <a:pt x="699926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699926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OCR LEE METADATOS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738025" y="7147588"/>
            <a:ext cx="7101961" cy="715816"/>
            <a:chOff x="0" y="0"/>
            <a:chExt cx="1870475" cy="1885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70475" cy="188528"/>
            </a:xfrm>
            <a:custGeom>
              <a:avLst/>
              <a:gdLst/>
              <a:ahLst/>
              <a:cxnLst/>
              <a:rect l="l" t="t" r="r" b="b"/>
              <a:pathLst>
                <a:path w="1870475" h="188528">
                  <a:moveTo>
                    <a:pt x="0" y="0"/>
                  </a:moveTo>
                  <a:lnTo>
                    <a:pt x="1870475" y="0"/>
                  </a:lnTo>
                  <a:lnTo>
                    <a:pt x="1870475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1870475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MUEVE CARPETAS A SALIDAS Y REGISTRA EN BASE DE DATOS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82046" y="4156840"/>
            <a:ext cx="5864654" cy="715816"/>
            <a:chOff x="0" y="0"/>
            <a:chExt cx="1544600" cy="1885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44600" cy="188528"/>
            </a:xfrm>
            <a:custGeom>
              <a:avLst/>
              <a:gdLst/>
              <a:ahLst/>
              <a:cxnLst/>
              <a:rect l="l" t="t" r="r" b="b"/>
              <a:pathLst>
                <a:path w="1544600" h="188528">
                  <a:moveTo>
                    <a:pt x="0" y="0"/>
                  </a:moveTo>
                  <a:lnTo>
                    <a:pt x="1544600" y="0"/>
                  </a:lnTo>
                  <a:lnTo>
                    <a:pt x="1544600" y="188528"/>
                  </a:lnTo>
                  <a:lnTo>
                    <a:pt x="0" y="188528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1544600" cy="16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01"/>
                </a:lnSpc>
              </a:pPr>
              <a:r>
                <a:rPr lang="en-US" sz="1501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MUESTRA PDF’S LADO A LADO CON FORMULARIO WEB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H="1">
            <a:off x="4054069" y="1022458"/>
            <a:ext cx="3" cy="6700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39" name="AutoShape 39"/>
          <p:cNvSpPr/>
          <p:nvPr/>
        </p:nvSpPr>
        <p:spPr>
          <a:xfrm>
            <a:off x="4054077" y="2408326"/>
            <a:ext cx="0" cy="6667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0" name="AutoShape 40"/>
          <p:cNvSpPr/>
          <p:nvPr/>
        </p:nvSpPr>
        <p:spPr>
          <a:xfrm>
            <a:off x="4054077" y="3790892"/>
            <a:ext cx="2" cy="6667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1" name="AutoShape 41"/>
          <p:cNvSpPr/>
          <p:nvPr/>
        </p:nvSpPr>
        <p:spPr>
          <a:xfrm>
            <a:off x="6560441" y="309751"/>
            <a:ext cx="0" cy="68387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2" name="AutoShape 42"/>
          <p:cNvSpPr/>
          <p:nvPr/>
        </p:nvSpPr>
        <p:spPr>
          <a:xfrm>
            <a:off x="4054081" y="5173457"/>
            <a:ext cx="2" cy="6667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3" name="AutoShape 43"/>
          <p:cNvSpPr/>
          <p:nvPr/>
        </p:nvSpPr>
        <p:spPr>
          <a:xfrm flipH="1">
            <a:off x="7027166" y="667853"/>
            <a:ext cx="0" cy="7195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4" name="AutoShape 44"/>
          <p:cNvSpPr/>
          <p:nvPr/>
        </p:nvSpPr>
        <p:spPr>
          <a:xfrm flipH="1">
            <a:off x="6560441" y="309945"/>
            <a:ext cx="6964496" cy="188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5" name="AutoShape 45"/>
          <p:cNvSpPr/>
          <p:nvPr/>
        </p:nvSpPr>
        <p:spPr>
          <a:xfrm flipH="1">
            <a:off x="7027166" y="683093"/>
            <a:ext cx="2132132" cy="38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6" name="AutoShape 46"/>
          <p:cNvSpPr/>
          <p:nvPr/>
        </p:nvSpPr>
        <p:spPr>
          <a:xfrm flipH="1" flipV="1">
            <a:off x="5031201" y="7882454"/>
            <a:ext cx="199596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7" name="AutoShape 47"/>
          <p:cNvSpPr/>
          <p:nvPr/>
        </p:nvSpPr>
        <p:spPr>
          <a:xfrm flipH="1">
            <a:off x="5382856" y="7147588"/>
            <a:ext cx="117758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8" name="AutoShape 48"/>
          <p:cNvSpPr/>
          <p:nvPr/>
        </p:nvSpPr>
        <p:spPr>
          <a:xfrm>
            <a:off x="9159295" y="667853"/>
            <a:ext cx="1" cy="30650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9" name="AutoShape 49"/>
          <p:cNvSpPr/>
          <p:nvPr/>
        </p:nvSpPr>
        <p:spPr>
          <a:xfrm flipH="1">
            <a:off x="13508475" y="309945"/>
            <a:ext cx="1" cy="6643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0" name="AutoShape 50"/>
          <p:cNvSpPr/>
          <p:nvPr/>
        </p:nvSpPr>
        <p:spPr>
          <a:xfrm>
            <a:off x="13523772" y="1692509"/>
            <a:ext cx="16391" cy="9704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1" name="AutoShape 51"/>
          <p:cNvSpPr/>
          <p:nvPr/>
        </p:nvSpPr>
        <p:spPr>
          <a:xfrm>
            <a:off x="13523772" y="3378773"/>
            <a:ext cx="0" cy="7780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2" name="AutoShape 52"/>
          <p:cNvSpPr/>
          <p:nvPr/>
        </p:nvSpPr>
        <p:spPr>
          <a:xfrm>
            <a:off x="9144000" y="1693980"/>
            <a:ext cx="15297" cy="347947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3" name="AutoShape 53"/>
          <p:cNvSpPr/>
          <p:nvPr/>
        </p:nvSpPr>
        <p:spPr>
          <a:xfrm>
            <a:off x="9144000" y="5173458"/>
            <a:ext cx="214500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4" name="AutoShape 54"/>
          <p:cNvSpPr/>
          <p:nvPr/>
        </p:nvSpPr>
        <p:spPr>
          <a:xfrm flipV="1">
            <a:off x="11437545" y="5172443"/>
            <a:ext cx="2102618" cy="10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5" name="AutoShape 55"/>
          <p:cNvSpPr/>
          <p:nvPr/>
        </p:nvSpPr>
        <p:spPr>
          <a:xfrm flipH="1">
            <a:off x="13540198" y="4872656"/>
            <a:ext cx="35" cy="300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6" name="AutoShape 56"/>
          <p:cNvSpPr/>
          <p:nvPr/>
        </p:nvSpPr>
        <p:spPr>
          <a:xfrm>
            <a:off x="11451658" y="5173457"/>
            <a:ext cx="3" cy="47625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7" name="AutoShape 57"/>
          <p:cNvSpPr/>
          <p:nvPr/>
        </p:nvSpPr>
        <p:spPr>
          <a:xfrm flipH="1">
            <a:off x="11267442" y="5173457"/>
            <a:ext cx="4" cy="47625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8" name="AutoShape 58"/>
          <p:cNvSpPr/>
          <p:nvPr/>
        </p:nvSpPr>
        <p:spPr>
          <a:xfrm flipH="1">
            <a:off x="11289003" y="6366538"/>
            <a:ext cx="1" cy="7780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59" name="AutoShape 59"/>
          <p:cNvSpPr/>
          <p:nvPr/>
        </p:nvSpPr>
        <p:spPr>
          <a:xfrm>
            <a:off x="11289005" y="7863404"/>
            <a:ext cx="0" cy="476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5489" y="438789"/>
            <a:ext cx="16983811" cy="127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4"/>
              </a:lnSpc>
              <a:spcBef>
                <a:spcPct val="0"/>
              </a:spcBef>
            </a:pPr>
            <a:r>
              <a:rPr lang="en-US" sz="4914" b="1" u="sng">
                <a:solidFill>
                  <a:srgbClr val="DECFA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Beneficios de la Aplicación (El Retorno de Inversión)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6388" y="2316159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Ahorro de Tiempo (95%):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63136" y="2316159"/>
            <a:ext cx="11868476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 búsquedas de hojas de reparto pasan de tomar minutos (o días) a resolverse en 1 segundo.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388" y="5743575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Control de Inconsistencias: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63136" y="5743575"/>
            <a:ext cx="11868476" cy="113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 hojas de reparto mal impresas o ilegibles van a "Revisión", alertando de inmediato a la administración sobre fallas en la digitalización.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6388" y="4010570"/>
            <a:ext cx="4443561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Seguridad y Auditoría: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3136" y="4010570"/>
            <a:ext cx="11868476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documentos quedan registrados en una base de datos segura. Cero riesgo de pérdidas.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6388" y="7476580"/>
            <a:ext cx="4443561" cy="38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8"/>
              </a:lnSpc>
              <a:spcBef>
                <a:spcPct val="0"/>
              </a:spcBef>
            </a:pPr>
            <a:r>
              <a:rPr lang="en-US" sz="2978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Fácil Adaptación: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3136" y="7476580"/>
            <a:ext cx="11868476" cy="76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9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 herramiena que no es necesario mucha capacitación y rapida adaptación para cualquier empleado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392</Words>
  <Application>Microsoft Office PowerPoint</Application>
  <PresentationFormat>Personalizado</PresentationFormat>
  <Paragraphs>42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Montserrat Medium Italics</vt:lpstr>
      <vt:lpstr>Arial</vt:lpstr>
      <vt:lpstr>Montserrat Ultra-Bold</vt:lpstr>
      <vt:lpstr>Montserrat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(291) 476 7623</dc:title>
  <cp:lastModifiedBy>sergio ismael cordoba</cp:lastModifiedBy>
  <cp:revision>3</cp:revision>
  <dcterms:created xsi:type="dcterms:W3CDTF">2006-08-16T00:00:00Z</dcterms:created>
  <dcterms:modified xsi:type="dcterms:W3CDTF">2026-07-07T22:23:48Z</dcterms:modified>
  <dc:identifier>DAHL6CIB1Hg</dc:identifier>
</cp:coreProperties>
</file>
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Montserrat Ultra-Bold" charset="1" panose="00000900000000000000"/>
      <p:regular r:id="rId11"/>
    </p:embeddedFont>
    <p:embeddedFont>
      <p:font typeface="Montserrat Bold" charset="1" panose="00000800000000000000"/>
      <p:regular r:id="rId12"/>
    </p:embeddedFont>
    <p:embeddedFont>
      <p:font typeface="Montserrat" charset="1" panose="00000500000000000000"/>
      <p:regular r:id="rId13"/>
    </p:embeddedFont>
    <p:embeddedFont>
      <p:font typeface="Montserrat Medium Italics" charset="1" panose="0000060000000000000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24247" y="4149096"/>
            <a:ext cx="13758809" cy="2173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99"/>
              </a:lnSpc>
            </a:pPr>
            <a:r>
              <a:rPr lang="en-US" sz="5699" b="true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Digitalización y O</a:t>
            </a:r>
            <a:r>
              <a:rPr lang="en-US" sz="5699" b="true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rganización Inteligente de Repartos</a:t>
            </a:r>
          </a:p>
          <a:p>
            <a:pPr algn="l">
              <a:lnSpc>
                <a:spcPts val="569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624247" y="1643297"/>
            <a:ext cx="2262456" cy="209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b="true" sz="1501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PROTOTYPE ESTUDIO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911264" y="1689135"/>
            <a:ext cx="3752489" cy="209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501"/>
              </a:lnSpc>
            </a:pPr>
            <a:r>
              <a:rPr lang="en-US" b="true" sz="1501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CONTACTO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25713" y="2083317"/>
            <a:ext cx="2538040" cy="178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384"/>
              </a:lnSpc>
            </a:pPr>
            <a:r>
              <a:rPr lang="en-US" sz="1384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(291) 476 7623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35925" y="5606796"/>
            <a:ext cx="13758809" cy="4333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99"/>
              </a:lnSpc>
            </a:pPr>
            <a:r>
              <a:rPr lang="en-US" b="true" sz="2134" i="true" spc="529">
                <a:solidFill>
                  <a:srgbClr val="000000"/>
                </a:solidFill>
                <a:latin typeface="Montserrat Medium Italics"/>
                <a:ea typeface="Montserrat Medium Italics"/>
                <a:cs typeface="Montserrat Medium Italics"/>
                <a:sym typeface="Montserrat Medium Italics"/>
              </a:rPr>
              <a:t>DE LA HOJA FÍSICA AL ARCHIVO DIGITAL INDEXADO EN SEGUNDOS.</a:t>
            </a:r>
          </a:p>
        </p:txBody>
      </p:sp>
      <p:sp>
        <p:nvSpPr>
          <p:cNvPr name="AutoShape 7" id="7"/>
          <p:cNvSpPr/>
          <p:nvPr/>
        </p:nvSpPr>
        <p:spPr>
          <a:xfrm flipV="true">
            <a:off x="1624247" y="4007164"/>
            <a:ext cx="1555561" cy="0"/>
          </a:xfrm>
          <a:prstGeom prst="line">
            <a:avLst/>
          </a:prstGeom>
          <a:ln cap="flat" w="857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8" id="8"/>
          <p:cNvSpPr txBox="true"/>
          <p:nvPr/>
        </p:nvSpPr>
        <p:spPr>
          <a:xfrm rot="0">
            <a:off x="4587716" y="8254014"/>
            <a:ext cx="9744167" cy="1170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30"/>
              </a:lnSpc>
              <a:spcBef>
                <a:spcPct val="0"/>
              </a:spcBef>
            </a:pPr>
            <a:r>
              <a:rPr lang="en-US" sz="303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Reducir a cero el tiempo de búsqueda de documentos y automatizar el control de repartos de la empresa.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051967" y="8263539"/>
            <a:ext cx="2184428" cy="471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70"/>
              </a:lnSpc>
              <a:spcBef>
                <a:spcPct val="0"/>
              </a:spcBef>
            </a:pPr>
            <a:r>
              <a:rPr lang="en-US" b="true" sz="3570" u="sng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Objetivo: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4787509" y="7178495"/>
            <a:ext cx="2574992" cy="2574992"/>
          </a:xfrm>
          <a:custGeom>
            <a:avLst/>
            <a:gdLst/>
            <a:ahLst/>
            <a:cxnLst/>
            <a:rect r="r" b="b" t="t" l="l"/>
            <a:pathLst>
              <a:path h="2574992" w="2574992">
                <a:moveTo>
                  <a:pt x="0" y="0"/>
                </a:moveTo>
                <a:lnTo>
                  <a:pt x="2574992" y="0"/>
                </a:lnTo>
                <a:lnTo>
                  <a:pt x="2574992" y="2574993"/>
                </a:lnTo>
                <a:lnTo>
                  <a:pt x="0" y="25749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4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736751" y="376370"/>
            <a:ext cx="12485669" cy="652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14"/>
              </a:lnSpc>
              <a:spcBef>
                <a:spcPct val="0"/>
              </a:spcBef>
            </a:pPr>
            <a:r>
              <a:rPr lang="en-US" b="true" sz="4914" u="sng">
                <a:solidFill>
                  <a:srgbClr val="DECFA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El Desafío Actual (nuestro problema)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0823" y="1737039"/>
            <a:ext cx="4443561" cy="389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8"/>
              </a:lnSpc>
              <a:spcBef>
                <a:spcPct val="0"/>
              </a:spcBef>
            </a:pP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Búsqueda Ineficiente: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917571" y="1737039"/>
            <a:ext cx="11868476" cy="113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Encontrar una hoja de reparto de hace meses implica revisar cajas o archivos digitales mal organizados, perdiendo minutos u horas valiosas.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10823" y="4441826"/>
            <a:ext cx="16975224" cy="844954"/>
            <a:chOff x="0" y="0"/>
            <a:chExt cx="22633632" cy="1126605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57150"/>
              <a:ext cx="6505773" cy="5390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78"/>
                </a:lnSpc>
                <a:spcBef>
                  <a:spcPct val="0"/>
                </a:spcBef>
              </a:pPr>
              <a:r>
                <a:rPr lang="en-US" b="true" sz="2978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Error</a:t>
              </a:r>
              <a:r>
                <a:rPr lang="en-US" b="true" sz="2978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es de Clasificación: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6808997" y="92282"/>
              <a:ext cx="15824634" cy="10343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78"/>
                </a:lnSpc>
                <a:spcBef>
                  <a:spcPct val="0"/>
                </a:spcBef>
              </a:pPr>
              <a:r>
                <a:rPr lang="en-US" sz="2978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</a:t>
              </a:r>
              <a:r>
                <a:rPr lang="en-US" sz="2978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arpetas guardadas con nombres incorrectos, fechas cruzadas o archivos perdidos por error humano.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0823" y="6858405"/>
            <a:ext cx="16975224" cy="818605"/>
            <a:chOff x="0" y="0"/>
            <a:chExt cx="22633632" cy="1091473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57150"/>
              <a:ext cx="5771555" cy="5390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78"/>
                </a:lnSpc>
                <a:spcBef>
                  <a:spcPct val="0"/>
                </a:spcBef>
              </a:pPr>
              <a:r>
                <a:rPr lang="en-US" b="true" sz="2978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Falt</a:t>
              </a:r>
              <a:r>
                <a:rPr lang="en-US" b="true" sz="2978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a de Trazabilidad: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6808997" y="57150"/>
              <a:ext cx="15824634" cy="10343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78"/>
                </a:lnSpc>
                <a:spcBef>
                  <a:spcPct val="0"/>
                </a:spcBef>
              </a:pPr>
              <a:r>
                <a:rPr lang="en-US" sz="2978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Imp</a:t>
              </a:r>
              <a:r>
                <a:rPr lang="en-US" sz="2978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osibilidad de saber rápidamente qué repartos fueron archivados con éxito y cuáles tienen inconsistencias.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800989" y="376370"/>
            <a:ext cx="12357193" cy="1275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14"/>
              </a:lnSpc>
              <a:spcBef>
                <a:spcPct val="0"/>
              </a:spcBef>
            </a:pPr>
            <a:r>
              <a:rPr lang="en-US" b="true" sz="4914" u="sng">
                <a:solidFill>
                  <a:srgbClr val="DECFA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La</a:t>
            </a:r>
            <a:r>
              <a:rPr lang="en-US" b="true" sz="4914" u="sng">
                <a:solidFill>
                  <a:srgbClr val="DECFA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Solución es un Gestor de Repartos</a:t>
            </a:r>
          </a:p>
          <a:p>
            <a:pPr algn="ctr">
              <a:lnSpc>
                <a:spcPts val="4914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810823" y="1737039"/>
            <a:ext cx="4443561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8"/>
              </a:lnSpc>
              <a:spcBef>
                <a:spcPct val="0"/>
              </a:spcBef>
            </a:pP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L</a:t>
            </a: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ectura Inteligente (OCR):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917571" y="1737039"/>
            <a:ext cx="11868476" cy="150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Lee aut</a:t>
            </a: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omáticamente los PDF escaneados, identificando la empresa, fecha, sucursal y número de reparto de forma instantánea. (Una tecnologia con la que ya contamos y no le estamos sacando el mayor provecho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10823" y="3683671"/>
            <a:ext cx="4443561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8"/>
              </a:lnSpc>
              <a:spcBef>
                <a:spcPct val="0"/>
              </a:spcBef>
            </a:pP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Cla</a:t>
            </a: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sificación en Cascada: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917571" y="3683671"/>
            <a:ext cx="11868476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Mueve y estru</a:t>
            </a: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ctura las carpetas en el servidor de forma jerárquica y limpia (Año &gt; Empresa &gt; Sucursal &gt; Mes &gt; Día).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10823" y="5288088"/>
            <a:ext cx="4443561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8"/>
              </a:lnSpc>
              <a:spcBef>
                <a:spcPct val="0"/>
              </a:spcBef>
            </a:pP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Interfaz Visual Centralizada: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917571" y="5288088"/>
            <a:ext cx="11868476" cy="113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U</a:t>
            </a: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 panel web premium para supervisar los documentos organizados, buscar repartos al instante y resolver excepciones.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10823" y="7635456"/>
            <a:ext cx="4443561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8"/>
              </a:lnSpc>
              <a:spcBef>
                <a:spcPct val="0"/>
              </a:spcBef>
            </a:pP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Base de Datos Indexada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917571" y="7635456"/>
            <a:ext cx="11868476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Registro perma</a:t>
            </a: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nente de cada hoja de reparto para auditorías inmediatas.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241578" y="309945"/>
            <a:ext cx="3625024" cy="715816"/>
            <a:chOff x="0" y="0"/>
            <a:chExt cx="954739" cy="18852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54739" cy="188528"/>
            </a:xfrm>
            <a:custGeom>
              <a:avLst/>
              <a:gdLst/>
              <a:ahLst/>
              <a:cxnLst/>
              <a:rect r="r" b="b" t="t" l="l"/>
              <a:pathLst>
                <a:path h="188528" w="954739">
                  <a:moveTo>
                    <a:pt x="0" y="0"/>
                  </a:moveTo>
                  <a:lnTo>
                    <a:pt x="954739" y="0"/>
                  </a:lnTo>
                  <a:lnTo>
                    <a:pt x="954739" y="188528"/>
                  </a:lnTo>
                  <a:lnTo>
                    <a:pt x="0" y="188528"/>
                  </a:lnTo>
                  <a:close/>
                </a:path>
              </a:pathLst>
            </a:custGeom>
            <a:solidFill>
              <a:srgbClr val="DECFA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19050"/>
              <a:ext cx="954739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b="true" sz="1501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ESCANEAR PDF’S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41578" y="3075076"/>
            <a:ext cx="3625024" cy="715816"/>
            <a:chOff x="0" y="0"/>
            <a:chExt cx="954739" cy="18852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4739" cy="188528"/>
            </a:xfrm>
            <a:custGeom>
              <a:avLst/>
              <a:gdLst/>
              <a:ahLst/>
              <a:cxnLst/>
              <a:rect r="r" b="b" t="t" l="l"/>
              <a:pathLst>
                <a:path h="188528" w="954739">
                  <a:moveTo>
                    <a:pt x="0" y="0"/>
                  </a:moveTo>
                  <a:lnTo>
                    <a:pt x="954739" y="0"/>
                  </a:lnTo>
                  <a:lnTo>
                    <a:pt x="954739" y="188528"/>
                  </a:lnTo>
                  <a:lnTo>
                    <a:pt x="0" y="188528"/>
                  </a:lnTo>
                  <a:close/>
                </a:path>
              </a:pathLst>
            </a:custGeom>
            <a:solidFill>
              <a:srgbClr val="DECFA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19050"/>
              <a:ext cx="954739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b="true" sz="1501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PROCESAMIENTO INTELIGENTE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511040" y="5840208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DECFA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139700" y="158750"/>
              <a:ext cx="533400" cy="5143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b="true" sz="1501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¿FUE IDENTIFICADO CON EXITO?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01517" y="978165"/>
            <a:ext cx="813918" cy="715816"/>
            <a:chOff x="0" y="0"/>
            <a:chExt cx="214365" cy="1885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4365" cy="188528"/>
            </a:xfrm>
            <a:custGeom>
              <a:avLst/>
              <a:gdLst/>
              <a:ahLst/>
              <a:cxnLst/>
              <a:rect r="r" b="b" t="t" l="l"/>
              <a:pathLst>
                <a:path h="188528" w="214365">
                  <a:moveTo>
                    <a:pt x="0" y="0"/>
                  </a:moveTo>
                  <a:lnTo>
                    <a:pt x="214365" y="0"/>
                  </a:lnTo>
                  <a:lnTo>
                    <a:pt x="214365" y="188528"/>
                  </a:lnTo>
                  <a:lnTo>
                    <a:pt x="0" y="188528"/>
                  </a:lnTo>
                  <a:close/>
                </a:path>
              </a:pathLst>
            </a:custGeom>
            <a:ln w="38100" cap="sq">
              <a:solidFill>
                <a:srgbClr val="000000"/>
              </a:solidFill>
              <a:prstDash val="sysDot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19050"/>
              <a:ext cx="214365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sz="1501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NO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737041" y="978165"/>
            <a:ext cx="813918" cy="715816"/>
            <a:chOff x="0" y="0"/>
            <a:chExt cx="214365" cy="1885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4365" cy="188528"/>
            </a:xfrm>
            <a:custGeom>
              <a:avLst/>
              <a:gdLst/>
              <a:ahLst/>
              <a:cxnLst/>
              <a:rect r="r" b="b" t="t" l="l"/>
              <a:pathLst>
                <a:path h="188528" w="214365">
                  <a:moveTo>
                    <a:pt x="0" y="0"/>
                  </a:moveTo>
                  <a:lnTo>
                    <a:pt x="214365" y="0"/>
                  </a:lnTo>
                  <a:lnTo>
                    <a:pt x="214365" y="188528"/>
                  </a:lnTo>
                  <a:lnTo>
                    <a:pt x="0" y="188528"/>
                  </a:lnTo>
                  <a:close/>
                </a:path>
              </a:pathLst>
            </a:custGeom>
            <a:ln w="38100" cap="sq">
              <a:solidFill>
                <a:srgbClr val="000000"/>
              </a:solidFill>
              <a:prstDash val="sysDot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19050"/>
              <a:ext cx="214365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sz="1501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SI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695964" y="2662958"/>
            <a:ext cx="3625024" cy="715816"/>
            <a:chOff x="0" y="0"/>
            <a:chExt cx="954739" cy="1885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54739" cy="188528"/>
            </a:xfrm>
            <a:custGeom>
              <a:avLst/>
              <a:gdLst/>
              <a:ahLst/>
              <a:cxnLst/>
              <a:rect r="r" b="b" t="t" l="l"/>
              <a:pathLst>
                <a:path h="188528" w="954739">
                  <a:moveTo>
                    <a:pt x="0" y="0"/>
                  </a:moveTo>
                  <a:lnTo>
                    <a:pt x="954739" y="0"/>
                  </a:lnTo>
                  <a:lnTo>
                    <a:pt x="954739" y="188528"/>
                  </a:lnTo>
                  <a:lnTo>
                    <a:pt x="0" y="188528"/>
                  </a:lnTo>
                  <a:close/>
                </a:path>
              </a:pathLst>
            </a:custGeom>
            <a:solidFill>
              <a:srgbClr val="DECFA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19050"/>
              <a:ext cx="954739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b="true" sz="1501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PANEL DE REVISION MANUAL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476493" y="5650723"/>
            <a:ext cx="3625024" cy="715816"/>
            <a:chOff x="0" y="0"/>
            <a:chExt cx="954739" cy="18852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54739" cy="188528"/>
            </a:xfrm>
            <a:custGeom>
              <a:avLst/>
              <a:gdLst/>
              <a:ahLst/>
              <a:cxnLst/>
              <a:rect r="r" b="b" t="t" l="l"/>
              <a:pathLst>
                <a:path h="188528" w="954739">
                  <a:moveTo>
                    <a:pt x="0" y="0"/>
                  </a:moveTo>
                  <a:lnTo>
                    <a:pt x="954739" y="0"/>
                  </a:lnTo>
                  <a:lnTo>
                    <a:pt x="954739" y="188528"/>
                  </a:lnTo>
                  <a:lnTo>
                    <a:pt x="0" y="188528"/>
                  </a:lnTo>
                  <a:close/>
                </a:path>
              </a:pathLst>
            </a:custGeom>
            <a:solidFill>
              <a:srgbClr val="DECFA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19050"/>
              <a:ext cx="954739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b="true" sz="1501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ORGANIZACION AUTOMATICA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431229" y="8339654"/>
            <a:ext cx="5715551" cy="715816"/>
            <a:chOff x="0" y="0"/>
            <a:chExt cx="1505330" cy="18852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505330" cy="188528"/>
            </a:xfrm>
            <a:custGeom>
              <a:avLst/>
              <a:gdLst/>
              <a:ahLst/>
              <a:cxnLst/>
              <a:rect r="r" b="b" t="t" l="l"/>
              <a:pathLst>
                <a:path h="188528" w="1505330">
                  <a:moveTo>
                    <a:pt x="0" y="0"/>
                  </a:moveTo>
                  <a:lnTo>
                    <a:pt x="1505330" y="0"/>
                  </a:lnTo>
                  <a:lnTo>
                    <a:pt x="1505330" y="188528"/>
                  </a:lnTo>
                  <a:lnTo>
                    <a:pt x="0" y="188528"/>
                  </a:lnTo>
                  <a:close/>
                </a:path>
              </a:pathLst>
            </a:custGeom>
            <a:solidFill>
              <a:srgbClr val="DECFA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19050"/>
              <a:ext cx="1505330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b="true" sz="1501">
                  <a:solidFill>
                    <a:srgbClr val="000000"/>
                  </a:solidFill>
                  <a:latin typeface="Montserrat Ultra-Bold"/>
                  <a:ea typeface="Montserrat Ultra-Bold"/>
                  <a:cs typeface="Montserrat Ultra-Bold"/>
                  <a:sym typeface="Montserrat Ultra-Bold"/>
                </a:rPr>
                <a:t>REPARTO CARGADO A LA BASE DE DATOS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992817" y="1692510"/>
            <a:ext cx="4122548" cy="715816"/>
            <a:chOff x="0" y="0"/>
            <a:chExt cx="1085774" cy="18852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85774" cy="188528"/>
            </a:xfrm>
            <a:custGeom>
              <a:avLst/>
              <a:gdLst/>
              <a:ahLst/>
              <a:cxnLst/>
              <a:rect r="r" b="b" t="t" l="l"/>
              <a:pathLst>
                <a:path h="188528" w="1085774">
                  <a:moveTo>
                    <a:pt x="0" y="0"/>
                  </a:moveTo>
                  <a:lnTo>
                    <a:pt x="1085774" y="0"/>
                  </a:lnTo>
                  <a:lnTo>
                    <a:pt x="1085774" y="188528"/>
                  </a:lnTo>
                  <a:lnTo>
                    <a:pt x="0" y="188528"/>
                  </a:lnTo>
                  <a:close/>
                </a:path>
              </a:pathLst>
            </a:custGeom>
            <a:ln w="38100" cap="sq">
              <a:solidFill>
                <a:srgbClr val="000000"/>
              </a:solidFill>
              <a:prstDash val="sysDot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19050"/>
              <a:ext cx="1085774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sz="1501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 COLOCA EN CARPETA DE ENTRADA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725324" y="4457642"/>
            <a:ext cx="2657532" cy="715816"/>
            <a:chOff x="0" y="0"/>
            <a:chExt cx="699926" cy="18852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99926" cy="188528"/>
            </a:xfrm>
            <a:custGeom>
              <a:avLst/>
              <a:gdLst/>
              <a:ahLst/>
              <a:cxnLst/>
              <a:rect r="r" b="b" t="t" l="l"/>
              <a:pathLst>
                <a:path h="188528" w="699926">
                  <a:moveTo>
                    <a:pt x="0" y="0"/>
                  </a:moveTo>
                  <a:lnTo>
                    <a:pt x="699926" y="0"/>
                  </a:lnTo>
                  <a:lnTo>
                    <a:pt x="699926" y="188528"/>
                  </a:lnTo>
                  <a:lnTo>
                    <a:pt x="0" y="188528"/>
                  </a:lnTo>
                  <a:close/>
                </a:path>
              </a:pathLst>
            </a:custGeom>
            <a:ln w="38100" cap="sq">
              <a:solidFill>
                <a:srgbClr val="000000"/>
              </a:solidFill>
              <a:prstDash val="sysDot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699926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sz="1501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OCR LEE METADATOS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738025" y="7147588"/>
            <a:ext cx="7101961" cy="715816"/>
            <a:chOff x="0" y="0"/>
            <a:chExt cx="1870475" cy="18852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870475" cy="188528"/>
            </a:xfrm>
            <a:custGeom>
              <a:avLst/>
              <a:gdLst/>
              <a:ahLst/>
              <a:cxnLst/>
              <a:rect r="r" b="b" t="t" l="l"/>
              <a:pathLst>
                <a:path h="188528" w="1870475">
                  <a:moveTo>
                    <a:pt x="0" y="0"/>
                  </a:moveTo>
                  <a:lnTo>
                    <a:pt x="1870475" y="0"/>
                  </a:lnTo>
                  <a:lnTo>
                    <a:pt x="1870475" y="188528"/>
                  </a:lnTo>
                  <a:lnTo>
                    <a:pt x="0" y="188528"/>
                  </a:lnTo>
                  <a:close/>
                </a:path>
              </a:pathLst>
            </a:custGeom>
            <a:ln w="38100" cap="sq">
              <a:solidFill>
                <a:srgbClr val="000000"/>
              </a:solidFill>
              <a:prstDash val="sysDot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19050"/>
              <a:ext cx="1870475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sz="1501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MUESTRA CARPETAS A SALIDAS Y REGISTRA EN BASE DE DATOS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0882046" y="4156840"/>
            <a:ext cx="5864654" cy="715816"/>
            <a:chOff x="0" y="0"/>
            <a:chExt cx="1544600" cy="18852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544600" cy="188528"/>
            </a:xfrm>
            <a:custGeom>
              <a:avLst/>
              <a:gdLst/>
              <a:ahLst/>
              <a:cxnLst/>
              <a:rect r="r" b="b" t="t" l="l"/>
              <a:pathLst>
                <a:path h="188528" w="1544600">
                  <a:moveTo>
                    <a:pt x="0" y="0"/>
                  </a:moveTo>
                  <a:lnTo>
                    <a:pt x="1544600" y="0"/>
                  </a:lnTo>
                  <a:lnTo>
                    <a:pt x="1544600" y="188528"/>
                  </a:lnTo>
                  <a:lnTo>
                    <a:pt x="0" y="188528"/>
                  </a:lnTo>
                  <a:close/>
                </a:path>
              </a:pathLst>
            </a:custGeom>
            <a:ln w="38100" cap="sq">
              <a:solidFill>
                <a:srgbClr val="000000"/>
              </a:solidFill>
              <a:prstDash val="sysDot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19050"/>
              <a:ext cx="1544600" cy="1694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01"/>
                </a:lnSpc>
              </a:pPr>
              <a:r>
                <a:rPr lang="en-US" sz="1501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MUESTRA PDF’S LADO A LADO CON FORMULARIO WEB</a:t>
              </a:r>
            </a:p>
          </p:txBody>
        </p:sp>
      </p:grpSp>
      <p:sp>
        <p:nvSpPr>
          <p:cNvPr name="AutoShape 38" id="38"/>
          <p:cNvSpPr/>
          <p:nvPr/>
        </p:nvSpPr>
        <p:spPr>
          <a:xfrm>
            <a:off x="3991755" y="978165"/>
            <a:ext cx="62335" cy="714346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 flipH="true">
            <a:off x="3985730" y="2408326"/>
            <a:ext cx="68360" cy="56785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>
            <a:off x="4054090" y="3790892"/>
            <a:ext cx="60874" cy="6667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1" id="41"/>
          <p:cNvSpPr/>
          <p:nvPr/>
        </p:nvSpPr>
        <p:spPr>
          <a:xfrm>
            <a:off x="6560441" y="309751"/>
            <a:ext cx="0" cy="683870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2" id="42"/>
          <p:cNvSpPr/>
          <p:nvPr/>
        </p:nvSpPr>
        <p:spPr>
          <a:xfrm flipH="true">
            <a:off x="4002248" y="5173458"/>
            <a:ext cx="51842" cy="61563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3" id="43"/>
          <p:cNvSpPr/>
          <p:nvPr/>
        </p:nvSpPr>
        <p:spPr>
          <a:xfrm flipH="true">
            <a:off x="7027166" y="667853"/>
            <a:ext cx="0" cy="7195551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4" id="44"/>
          <p:cNvSpPr/>
          <p:nvPr/>
        </p:nvSpPr>
        <p:spPr>
          <a:xfrm flipH="true">
            <a:off x="6560441" y="309945"/>
            <a:ext cx="6964496" cy="1885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5" id="45"/>
          <p:cNvSpPr/>
          <p:nvPr/>
        </p:nvSpPr>
        <p:spPr>
          <a:xfrm flipH="true">
            <a:off x="7027166" y="683093"/>
            <a:ext cx="2132132" cy="381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6" id="46"/>
          <p:cNvSpPr/>
          <p:nvPr/>
        </p:nvSpPr>
        <p:spPr>
          <a:xfrm flipH="true" flipV="true">
            <a:off x="5031201" y="7882454"/>
            <a:ext cx="1995965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7" id="47"/>
          <p:cNvSpPr/>
          <p:nvPr/>
        </p:nvSpPr>
        <p:spPr>
          <a:xfrm flipH="true">
            <a:off x="5382856" y="7147588"/>
            <a:ext cx="1177584" cy="190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8" id="48"/>
          <p:cNvSpPr/>
          <p:nvPr/>
        </p:nvSpPr>
        <p:spPr>
          <a:xfrm>
            <a:off x="9144000" y="667853"/>
            <a:ext cx="80531" cy="357908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9" id="49"/>
          <p:cNvSpPr/>
          <p:nvPr/>
        </p:nvSpPr>
        <p:spPr>
          <a:xfrm>
            <a:off x="13508476" y="309945"/>
            <a:ext cx="0" cy="66822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0" id="50"/>
          <p:cNvSpPr/>
          <p:nvPr/>
        </p:nvSpPr>
        <p:spPr>
          <a:xfrm>
            <a:off x="13508476" y="1693980"/>
            <a:ext cx="79905" cy="1013351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1" id="51"/>
          <p:cNvSpPr/>
          <p:nvPr/>
        </p:nvSpPr>
        <p:spPr>
          <a:xfrm>
            <a:off x="13508476" y="3378774"/>
            <a:ext cx="0" cy="65901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2" id="52"/>
          <p:cNvSpPr/>
          <p:nvPr/>
        </p:nvSpPr>
        <p:spPr>
          <a:xfrm>
            <a:off x="9144000" y="1693980"/>
            <a:ext cx="15297" cy="347947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3" id="53"/>
          <p:cNvSpPr/>
          <p:nvPr/>
        </p:nvSpPr>
        <p:spPr>
          <a:xfrm>
            <a:off x="9144000" y="5173458"/>
            <a:ext cx="2145005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4" id="54"/>
          <p:cNvSpPr/>
          <p:nvPr/>
        </p:nvSpPr>
        <p:spPr>
          <a:xfrm>
            <a:off x="11437545" y="5173458"/>
            <a:ext cx="2070931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5" id="55"/>
          <p:cNvSpPr/>
          <p:nvPr/>
        </p:nvSpPr>
        <p:spPr>
          <a:xfrm>
            <a:off x="13508476" y="4872656"/>
            <a:ext cx="16461" cy="300802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6" id="56"/>
          <p:cNvSpPr/>
          <p:nvPr/>
        </p:nvSpPr>
        <p:spPr>
          <a:xfrm>
            <a:off x="11437545" y="5173458"/>
            <a:ext cx="0" cy="47726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7" id="57"/>
          <p:cNvSpPr/>
          <p:nvPr/>
        </p:nvSpPr>
        <p:spPr>
          <a:xfrm flipH="true">
            <a:off x="11267452" y="5143500"/>
            <a:ext cx="21553" cy="55730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8" id="58"/>
          <p:cNvSpPr/>
          <p:nvPr/>
        </p:nvSpPr>
        <p:spPr>
          <a:xfrm flipH="true">
            <a:off x="11068931" y="6366538"/>
            <a:ext cx="220074" cy="821328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9" id="59"/>
          <p:cNvSpPr/>
          <p:nvPr/>
        </p:nvSpPr>
        <p:spPr>
          <a:xfrm>
            <a:off x="11289005" y="7863404"/>
            <a:ext cx="0" cy="4762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75489" y="438789"/>
            <a:ext cx="16983811" cy="1275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14"/>
              </a:lnSpc>
              <a:spcBef>
                <a:spcPct val="0"/>
              </a:spcBef>
            </a:pPr>
            <a:r>
              <a:rPr lang="en-US" b="true" sz="4914" u="sng">
                <a:solidFill>
                  <a:srgbClr val="DECFA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Beneficios</a:t>
            </a:r>
            <a:r>
              <a:rPr lang="en-US" b="true" sz="4914" u="sng">
                <a:solidFill>
                  <a:srgbClr val="DECFAF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 de la Aplicación (El Retorno de Inversión)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56388" y="2316159"/>
            <a:ext cx="4443561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8"/>
              </a:lnSpc>
              <a:spcBef>
                <a:spcPct val="0"/>
              </a:spcBef>
            </a:pP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Ahorro </a:t>
            </a: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de Tiempo (95%):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763136" y="2316159"/>
            <a:ext cx="11868476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</a:t>
            </a: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as búsquedas de hojas de reparto pasan de tomar minutos (o días) a resolverse en 1 segundo.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56388" y="5743575"/>
            <a:ext cx="4443561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8"/>
              </a:lnSpc>
              <a:spcBef>
                <a:spcPct val="0"/>
              </a:spcBef>
            </a:pP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Control </a:t>
            </a: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de Inconsistencias: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763136" y="5743575"/>
            <a:ext cx="11868476" cy="1132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</a:t>
            </a: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as hojas de reparto mal impresas o ilegibles van a "Revisión", alertando de inmediato a la administración sobre fallas en la digitalización.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56388" y="4010570"/>
            <a:ext cx="4443561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8"/>
              </a:lnSpc>
              <a:spcBef>
                <a:spcPct val="0"/>
              </a:spcBef>
            </a:pP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Seg</a:t>
            </a: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uridad y Auditoría: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763136" y="4010570"/>
            <a:ext cx="11868476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</a:t>
            </a: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os documentos quedan registrados en una base de datos segura. Cero riesgo de pérdidas.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56388" y="7476580"/>
            <a:ext cx="4443561" cy="389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78"/>
              </a:lnSpc>
              <a:spcBef>
                <a:spcPct val="0"/>
              </a:spcBef>
            </a:pP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Fác</a:t>
            </a:r>
            <a:r>
              <a:rPr lang="en-US" b="true" sz="2978">
                <a:solidFill>
                  <a:srgbClr val="000000"/>
                </a:solidFill>
                <a:latin typeface="Montserrat Ultra-Bold"/>
                <a:ea typeface="Montserrat Ultra-Bold"/>
                <a:cs typeface="Montserrat Ultra-Bold"/>
                <a:sym typeface="Montserrat Ultra-Bold"/>
              </a:rPr>
              <a:t>il Adaptación: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763136" y="7476580"/>
            <a:ext cx="11868476" cy="761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978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Una herramiena que no es necesario mucha capacitación y rapida adaptación para cualquier empleado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DAHL6CIB1Hg</dc:identifier>
  <dcterms:modified xsi:type="dcterms:W3CDTF">2011-08-01T06:04:30Z</dcterms:modified>
  <cp:revision>1</cp:revision>
  <dc:title>(291) 476 7623</dc:title>
</cp:coreProperties>
</file>